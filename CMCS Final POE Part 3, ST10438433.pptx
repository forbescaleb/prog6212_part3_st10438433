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140"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leb Forbes" userId="4b5ff4e362172241" providerId="LiveId" clId="{227535B7-6859-434C-97BE-E94513217BB6}"/>
    <pc:docChg chg="modSld">
      <pc:chgData name="Caleb Forbes" userId="4b5ff4e362172241" providerId="LiveId" clId="{227535B7-6859-434C-97BE-E94513217BB6}" dt="2025-11-21T17:23:33.452" v="5" actId="14100"/>
      <pc:docMkLst>
        <pc:docMk/>
      </pc:docMkLst>
      <pc:sldChg chg="addSp modSp mod">
        <pc:chgData name="Caleb Forbes" userId="4b5ff4e362172241" providerId="LiveId" clId="{227535B7-6859-434C-97BE-E94513217BB6}" dt="2025-11-21T17:23:33.452" v="5" actId="14100"/>
        <pc:sldMkLst>
          <pc:docMk/>
          <pc:sldMk cId="191714609" sldId="258"/>
        </pc:sldMkLst>
        <pc:picChg chg="add mod">
          <ac:chgData name="Caleb Forbes" userId="4b5ff4e362172241" providerId="LiveId" clId="{227535B7-6859-434C-97BE-E94513217BB6}" dt="2025-11-21T17:23:33.452" v="5" actId="14100"/>
          <ac:picMkLst>
            <pc:docMk/>
            <pc:sldMk cId="191714609" sldId="258"/>
            <ac:picMk id="7" creationId="{58C512D5-EFBB-7B18-59E5-54EE683F472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11/21/2025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11/21/2025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11/21/2025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11/21/2025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11/21/2025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11/21/2025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11/21/2025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11/21/2025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11/21/2025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11/21/2025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11/21/2025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11/21/2025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704398" y="4578605"/>
            <a:ext cx="4549633" cy="1774951"/>
          </a:xfrm>
        </p:spPr>
        <p:txBody>
          <a:bodyPr>
            <a:noAutofit/>
          </a:bodyPr>
          <a:lstStyle/>
          <a:p>
            <a:r>
              <a:rPr lang="en-US" sz="4000" dirty="0"/>
              <a:t>CMCS</a:t>
            </a:r>
            <a:br>
              <a:rPr lang="en-US" sz="4000" dirty="0"/>
            </a:br>
            <a:r>
              <a:rPr lang="en-US" sz="4000" dirty="0"/>
              <a:t>Contract Monthly Claim System</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6756400" y="5167714"/>
            <a:ext cx="4386140" cy="1021498"/>
          </a:xfrm>
        </p:spPr>
        <p:txBody>
          <a:bodyPr>
            <a:normAutofit fontScale="70000" lnSpcReduction="20000"/>
          </a:bodyPr>
          <a:lstStyle/>
          <a:p>
            <a:r>
              <a:rPr lang="en-US" sz="2400" dirty="0">
                <a:solidFill>
                  <a:schemeClr val="tx1">
                    <a:lumMod val="85000"/>
                    <a:lumOff val="15000"/>
                  </a:schemeClr>
                </a:solidFill>
              </a:rPr>
              <a:t>ST10438433</a:t>
            </a:r>
            <a:r>
              <a:rPr lang="en-US" dirty="0">
                <a:solidFill>
                  <a:schemeClr val="tx1">
                    <a:lumMod val="85000"/>
                    <a:lumOff val="15000"/>
                  </a:schemeClr>
                </a:solidFill>
              </a:rPr>
              <a:t>, PRog6212, Caleb </a:t>
            </a:r>
            <a:r>
              <a:rPr lang="en-US" dirty="0" err="1">
                <a:solidFill>
                  <a:schemeClr val="tx1">
                    <a:lumMod val="85000"/>
                    <a:lumOff val="15000"/>
                  </a:schemeClr>
                </a:solidFill>
              </a:rPr>
              <a:t>forbes</a:t>
            </a:r>
            <a:endParaRPr lang="en-US" dirty="0">
              <a:solidFill>
                <a:schemeClr val="tx1">
                  <a:lumMod val="85000"/>
                  <a:lumOff val="15000"/>
                </a:schemeClr>
              </a:solidFill>
            </a:endParaRPr>
          </a:p>
          <a:p>
            <a:r>
              <a:rPr lang="en-US" sz="2400" dirty="0">
                <a:solidFill>
                  <a:schemeClr val="tx1">
                    <a:lumMod val="85000"/>
                    <a:lumOff val="15000"/>
                  </a:schemeClr>
                </a:solidFill>
              </a:rPr>
              <a:t>POE part 3 final presentation</a:t>
            </a:r>
          </a:p>
        </p:txBody>
      </p:sp>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C4528770-ECF8-5065-5A0E-CA62B9E2F2C6}"/>
              </a:ext>
            </a:extLst>
          </p:cNvPr>
          <p:cNvPicPr>
            <a:picLocks noChangeAspect="1"/>
          </p:cNvPicPr>
          <p:nvPr/>
        </p:nvPicPr>
        <p:blipFill>
          <a:blip r:embed="rId2"/>
          <a:stretch>
            <a:fillRect/>
          </a:stretch>
        </p:blipFill>
        <p:spPr>
          <a:xfrm>
            <a:off x="0" y="0"/>
            <a:ext cx="12192000" cy="4074162"/>
          </a:xfrm>
          <a:prstGeom prst="rect">
            <a:avLst/>
          </a:prstGeom>
        </p:spPr>
      </p:pic>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0" y="-1021372"/>
            <a:ext cx="10058400" cy="3892168"/>
          </a:xfrm>
        </p:spPr>
        <p:txBody>
          <a:bodyPr anchor="ctr">
            <a:normAutofit/>
          </a:bodyPr>
          <a:lstStyle/>
          <a:p>
            <a:pPr lvl="0"/>
            <a:r>
              <a:rPr lang="en-US" sz="4800" i="1" dirty="0">
                <a:solidFill>
                  <a:srgbClr val="FFFFFF"/>
                </a:solidFill>
              </a:rPr>
              <a:t>Updates from Feedback from POE Part 2 to Part 3</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9131824" y="1514880"/>
            <a:ext cx="2979651" cy="3238960"/>
          </a:xfrm>
        </p:spPr>
        <p:txBody>
          <a:bodyPr>
            <a:normAutofit fontScale="77500" lnSpcReduction="20000"/>
          </a:bodyPr>
          <a:lstStyle/>
          <a:p>
            <a:r>
              <a:rPr lang="en-US" dirty="0">
                <a:solidFill>
                  <a:srgbClr val="FFFFFF"/>
                </a:solidFill>
              </a:rPr>
              <a:t>- Version Control commit frequency and descriptive messages: This shows that I had only gotten 8 as I only did 7 commits but  in the next screen shot it shows more than 10 commits </a:t>
            </a:r>
          </a:p>
        </p:txBody>
      </p:sp>
      <p:pic>
        <p:nvPicPr>
          <p:cNvPr id="5" name="Picture 4">
            <a:extLst>
              <a:ext uri="{FF2B5EF4-FFF2-40B4-BE49-F238E27FC236}">
                <a16:creationId xmlns:a16="http://schemas.microsoft.com/office/drawing/2014/main" id="{EF5586FB-1E17-8E8E-3891-65ECE6A16B16}"/>
              </a:ext>
            </a:extLst>
          </p:cNvPr>
          <p:cNvPicPr>
            <a:picLocks noChangeAspect="1"/>
          </p:cNvPicPr>
          <p:nvPr/>
        </p:nvPicPr>
        <p:blipFill>
          <a:blip r:embed="rId2"/>
          <a:stretch>
            <a:fillRect/>
          </a:stretch>
        </p:blipFill>
        <p:spPr>
          <a:xfrm>
            <a:off x="0" y="1620959"/>
            <a:ext cx="8931902" cy="2499673"/>
          </a:xfrm>
          <a:prstGeom prst="rect">
            <a:avLst/>
          </a:prstGeom>
        </p:spPr>
      </p:pic>
      <p:pic>
        <p:nvPicPr>
          <p:cNvPr id="7" name="Picture 6">
            <a:extLst>
              <a:ext uri="{FF2B5EF4-FFF2-40B4-BE49-F238E27FC236}">
                <a16:creationId xmlns:a16="http://schemas.microsoft.com/office/drawing/2014/main" id="{58C512D5-EFBB-7B18-59E5-54EE683F472A}"/>
              </a:ext>
            </a:extLst>
          </p:cNvPr>
          <p:cNvPicPr>
            <a:picLocks noChangeAspect="1"/>
          </p:cNvPicPr>
          <p:nvPr/>
        </p:nvPicPr>
        <p:blipFill>
          <a:blip r:embed="rId3"/>
          <a:stretch>
            <a:fillRect/>
          </a:stretch>
        </p:blipFill>
        <p:spPr>
          <a:xfrm>
            <a:off x="0" y="4491755"/>
            <a:ext cx="11602720" cy="2344290"/>
          </a:xfrm>
          <a:prstGeom prst="rect">
            <a:avLst/>
          </a:prstGeom>
        </p:spPr>
      </p:pic>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F60C37-4E20-6FE4-F082-77E986D78EB7}"/>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9B04BF11-0F26-3D46-D874-CAEB21C47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0C197B-A963-5002-9FEF-6F11494863E2}"/>
              </a:ext>
            </a:extLst>
          </p:cNvPr>
          <p:cNvSpPr>
            <a:spLocks noGrp="1"/>
          </p:cNvSpPr>
          <p:nvPr>
            <p:ph type="ctrTitle"/>
          </p:nvPr>
        </p:nvSpPr>
        <p:spPr>
          <a:xfrm>
            <a:off x="0" y="-121487"/>
            <a:ext cx="8575040" cy="2387600"/>
          </a:xfrm>
        </p:spPr>
        <p:txBody>
          <a:bodyPr anchor="ctr">
            <a:normAutofit/>
          </a:bodyPr>
          <a:lstStyle/>
          <a:p>
            <a:pPr lvl="0"/>
            <a:r>
              <a:rPr lang="en-US" sz="4800" i="1" dirty="0">
                <a:solidFill>
                  <a:srgbClr val="FFFFFF"/>
                </a:solidFill>
              </a:rPr>
              <a:t>Updates from Feedback from POE Part 2 to Part 3 </a:t>
            </a:r>
            <a:br>
              <a:rPr lang="en-US" sz="4800" i="1" dirty="0">
                <a:solidFill>
                  <a:srgbClr val="FFFFFF"/>
                </a:solidFill>
              </a:rPr>
            </a:br>
            <a:r>
              <a:rPr lang="en-US" sz="4800" i="1" dirty="0">
                <a:solidFill>
                  <a:srgbClr val="FFFFFF"/>
                </a:solidFill>
              </a:rPr>
              <a:t>(Unit testing)</a:t>
            </a:r>
          </a:p>
        </p:txBody>
      </p:sp>
      <p:sp>
        <p:nvSpPr>
          <p:cNvPr id="49" name="Rectangle 48">
            <a:extLst>
              <a:ext uri="{FF2B5EF4-FFF2-40B4-BE49-F238E27FC236}">
                <a16:creationId xmlns:a16="http://schemas.microsoft.com/office/drawing/2014/main" id="{88E9ADAD-4CC0-2C1F-5AB2-F0B71CDFE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3" name="Subtitle 2">
            <a:extLst>
              <a:ext uri="{FF2B5EF4-FFF2-40B4-BE49-F238E27FC236}">
                <a16:creationId xmlns:a16="http://schemas.microsoft.com/office/drawing/2014/main" id="{AD44A631-1206-F9AE-3963-CE751A42BD78}"/>
              </a:ext>
            </a:extLst>
          </p:cNvPr>
          <p:cNvSpPr>
            <a:spLocks noGrp="1"/>
          </p:cNvSpPr>
          <p:nvPr>
            <p:ph type="subTitle" idx="1"/>
          </p:nvPr>
        </p:nvSpPr>
        <p:spPr>
          <a:xfrm>
            <a:off x="6868160" y="2458720"/>
            <a:ext cx="5130800" cy="2387600"/>
          </a:xfrm>
        </p:spPr>
        <p:txBody>
          <a:bodyPr>
            <a:normAutofit lnSpcReduction="10000"/>
          </a:bodyPr>
          <a:lstStyle/>
          <a:p>
            <a:r>
              <a:rPr lang="en-US" sz="1200" dirty="0">
                <a:solidFill>
                  <a:srgbClr val="FFFFFF"/>
                </a:solidFill>
              </a:rPr>
              <a:t>- </a:t>
            </a:r>
            <a:r>
              <a:rPr lang="en-US" sz="1600" dirty="0"/>
              <a:t>Tests now validate REAL business logic.</a:t>
            </a:r>
          </a:p>
          <a:p>
            <a:r>
              <a:rPr lang="en-US" sz="1600" dirty="0"/>
              <a:t>Ensures claim totals and approval logic are correct.</a:t>
            </a:r>
          </a:p>
          <a:p>
            <a:r>
              <a:rPr lang="en-US" sz="1600" dirty="0"/>
              <a:t>Prevents incorrect outputs and improves reliability.</a:t>
            </a:r>
          </a:p>
          <a:p>
            <a:r>
              <a:rPr lang="en-US" sz="1600" dirty="0"/>
              <a:t>.</a:t>
            </a:r>
          </a:p>
          <a:p>
            <a:endParaRPr lang="en-US" sz="1200" dirty="0">
              <a:solidFill>
                <a:schemeClr val="bg1"/>
              </a:solidFill>
            </a:endParaRPr>
          </a:p>
        </p:txBody>
      </p:sp>
      <p:pic>
        <p:nvPicPr>
          <p:cNvPr id="10" name="Picture 9" descr="03359e1c-29dc-4623-af4f-68d7d662e315.png">
            <a:extLst>
              <a:ext uri="{FF2B5EF4-FFF2-40B4-BE49-F238E27FC236}">
                <a16:creationId xmlns:a16="http://schemas.microsoft.com/office/drawing/2014/main" id="{69202934-C36C-59F5-5A74-732382D30805}"/>
              </a:ext>
            </a:extLst>
          </p:cNvPr>
          <p:cNvPicPr>
            <a:picLocks noChangeAspect="1"/>
          </p:cNvPicPr>
          <p:nvPr/>
        </p:nvPicPr>
        <p:blipFill>
          <a:blip r:embed="rId2"/>
          <a:stretch>
            <a:fillRect/>
          </a:stretch>
        </p:blipFill>
        <p:spPr>
          <a:xfrm>
            <a:off x="156754" y="5005675"/>
            <a:ext cx="7280366" cy="1799650"/>
          </a:xfrm>
          <a:prstGeom prst="rect">
            <a:avLst/>
          </a:prstGeom>
        </p:spPr>
      </p:pic>
      <p:pic>
        <p:nvPicPr>
          <p:cNvPr id="11" name="Picture 10" descr="7ad1ad77-b9f1-4a38-ab73-b8fce82906a1.png">
            <a:extLst>
              <a:ext uri="{FF2B5EF4-FFF2-40B4-BE49-F238E27FC236}">
                <a16:creationId xmlns:a16="http://schemas.microsoft.com/office/drawing/2014/main" id="{52F85836-FEBC-6580-93D6-24441A81B61E}"/>
              </a:ext>
            </a:extLst>
          </p:cNvPr>
          <p:cNvPicPr>
            <a:picLocks noChangeAspect="1"/>
          </p:cNvPicPr>
          <p:nvPr/>
        </p:nvPicPr>
        <p:blipFill>
          <a:blip r:embed="rId3"/>
          <a:stretch>
            <a:fillRect/>
          </a:stretch>
        </p:blipFill>
        <p:spPr>
          <a:xfrm>
            <a:off x="8097520" y="4970115"/>
            <a:ext cx="3628760" cy="1852325"/>
          </a:xfrm>
          <a:prstGeom prst="rect">
            <a:avLst/>
          </a:prstGeom>
        </p:spPr>
      </p:pic>
      <p:pic>
        <p:nvPicPr>
          <p:cNvPr id="13" name="Picture 12">
            <a:extLst>
              <a:ext uri="{FF2B5EF4-FFF2-40B4-BE49-F238E27FC236}">
                <a16:creationId xmlns:a16="http://schemas.microsoft.com/office/drawing/2014/main" id="{512BD86A-D435-910C-5C3C-C0A210A8E79D}"/>
              </a:ext>
            </a:extLst>
          </p:cNvPr>
          <p:cNvPicPr>
            <a:picLocks noChangeAspect="1"/>
          </p:cNvPicPr>
          <p:nvPr/>
        </p:nvPicPr>
        <p:blipFill>
          <a:blip r:embed="rId4"/>
          <a:stretch>
            <a:fillRect/>
          </a:stretch>
        </p:blipFill>
        <p:spPr>
          <a:xfrm>
            <a:off x="156754" y="2082800"/>
            <a:ext cx="6708358" cy="2905623"/>
          </a:xfrm>
          <a:prstGeom prst="rect">
            <a:avLst/>
          </a:prstGeom>
        </p:spPr>
      </p:pic>
    </p:spTree>
    <p:extLst>
      <p:ext uri="{BB962C8B-B14F-4D97-AF65-F5344CB8AC3E}">
        <p14:creationId xmlns:p14="http://schemas.microsoft.com/office/powerpoint/2010/main" val="3205756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C7B611-937A-2151-371D-111C252AE8BF}"/>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3B9A28A6-FD88-ECB7-5B64-F3879D05C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38FE73-FEEA-CE61-AF0C-E91E0BB9FBF9}"/>
              </a:ext>
            </a:extLst>
          </p:cNvPr>
          <p:cNvSpPr>
            <a:spLocks noGrp="1"/>
          </p:cNvSpPr>
          <p:nvPr>
            <p:ph type="ctrTitle"/>
          </p:nvPr>
        </p:nvSpPr>
        <p:spPr>
          <a:xfrm>
            <a:off x="0" y="-121487"/>
            <a:ext cx="8575040" cy="2387600"/>
          </a:xfrm>
        </p:spPr>
        <p:txBody>
          <a:bodyPr anchor="ctr">
            <a:normAutofit/>
          </a:bodyPr>
          <a:lstStyle/>
          <a:p>
            <a:pPr lvl="0"/>
            <a:r>
              <a:rPr lang="en-US" sz="4800" i="1" dirty="0">
                <a:solidFill>
                  <a:srgbClr val="FFFFFF"/>
                </a:solidFill>
              </a:rPr>
              <a:t>Updates from Feedback from POE Part 2 to Part 3 </a:t>
            </a:r>
            <a:br>
              <a:rPr lang="en-US" sz="4800" i="1" dirty="0">
                <a:solidFill>
                  <a:srgbClr val="FFFFFF"/>
                </a:solidFill>
              </a:rPr>
            </a:br>
            <a:r>
              <a:rPr lang="en-US" sz="4800" i="1" dirty="0">
                <a:solidFill>
                  <a:srgbClr val="FFFFFF"/>
                </a:solidFill>
              </a:rPr>
              <a:t>(Error Handling)</a:t>
            </a:r>
          </a:p>
        </p:txBody>
      </p:sp>
      <p:sp>
        <p:nvSpPr>
          <p:cNvPr id="49" name="Rectangle 48">
            <a:extLst>
              <a:ext uri="{FF2B5EF4-FFF2-40B4-BE49-F238E27FC236}">
                <a16:creationId xmlns:a16="http://schemas.microsoft.com/office/drawing/2014/main" id="{C334899D-1911-9ECA-B31C-C318DB539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3" name="Subtitle 2">
            <a:extLst>
              <a:ext uri="{FF2B5EF4-FFF2-40B4-BE49-F238E27FC236}">
                <a16:creationId xmlns:a16="http://schemas.microsoft.com/office/drawing/2014/main" id="{7D73B324-7808-865C-C109-E86BE075F608}"/>
              </a:ext>
            </a:extLst>
          </p:cNvPr>
          <p:cNvSpPr>
            <a:spLocks noGrp="1"/>
          </p:cNvSpPr>
          <p:nvPr>
            <p:ph type="subTitle" idx="1"/>
          </p:nvPr>
        </p:nvSpPr>
        <p:spPr>
          <a:xfrm>
            <a:off x="6725920" y="4189514"/>
            <a:ext cx="5130800" cy="2387600"/>
          </a:xfrm>
        </p:spPr>
        <p:txBody>
          <a:bodyPr>
            <a:normAutofit fontScale="55000" lnSpcReduction="20000"/>
          </a:bodyPr>
          <a:lstStyle/>
          <a:p>
            <a:r>
              <a:rPr lang="en-US" sz="1200" dirty="0">
                <a:solidFill>
                  <a:srgbClr val="FFFFFF"/>
                </a:solidFill>
              </a:rPr>
              <a:t>- </a:t>
            </a:r>
            <a:r>
              <a:rPr lang="en-US" sz="2800" dirty="0">
                <a:solidFill>
                  <a:schemeClr val="bg1"/>
                </a:solidFill>
              </a:rPr>
              <a:t>• Clear validation messages for all errors.</a:t>
            </a:r>
          </a:p>
          <a:p>
            <a:r>
              <a:rPr lang="en-US" sz="2800" dirty="0">
                <a:solidFill>
                  <a:schemeClr val="bg1"/>
                </a:solidFill>
              </a:rPr>
              <a:t>• Prevents crashes during uploads or invalid submissions.</a:t>
            </a:r>
          </a:p>
          <a:p>
            <a:r>
              <a:rPr lang="en-US" sz="2800" dirty="0">
                <a:solidFill>
                  <a:schemeClr val="bg1"/>
                </a:solidFill>
              </a:rPr>
              <a:t>• Only allows for </a:t>
            </a:r>
            <a:r>
              <a:rPr lang="en-US" sz="2800" dirty="0" err="1">
                <a:solidFill>
                  <a:schemeClr val="bg1"/>
                </a:solidFill>
              </a:rPr>
              <a:t>Hr</a:t>
            </a:r>
            <a:r>
              <a:rPr lang="en-US" sz="2800" dirty="0">
                <a:solidFill>
                  <a:schemeClr val="bg1"/>
                </a:solidFill>
              </a:rPr>
              <a:t> to change hourly rate and not Lecturers</a:t>
            </a:r>
          </a:p>
          <a:p>
            <a:r>
              <a:rPr lang="en-US" sz="2800" dirty="0">
                <a:solidFill>
                  <a:schemeClr val="bg1"/>
                </a:solidFill>
              </a:rPr>
              <a:t>•</a:t>
            </a:r>
            <a:r>
              <a:rPr lang="en-US" sz="2700" dirty="0">
                <a:solidFill>
                  <a:schemeClr val="bg1"/>
                </a:solidFill>
              </a:rPr>
              <a:t>Also you cant have hours worked be more than 24 hours</a:t>
            </a:r>
          </a:p>
          <a:p>
            <a:endParaRPr lang="en-US" sz="1200" dirty="0">
              <a:solidFill>
                <a:schemeClr val="bg1"/>
              </a:solidFill>
            </a:endParaRPr>
          </a:p>
        </p:txBody>
      </p:sp>
      <p:pic>
        <p:nvPicPr>
          <p:cNvPr id="5" name="Picture 4">
            <a:extLst>
              <a:ext uri="{FF2B5EF4-FFF2-40B4-BE49-F238E27FC236}">
                <a16:creationId xmlns:a16="http://schemas.microsoft.com/office/drawing/2014/main" id="{CD87D1EC-E918-ACAF-E50C-377A8AECF739}"/>
              </a:ext>
            </a:extLst>
          </p:cNvPr>
          <p:cNvPicPr>
            <a:picLocks noChangeAspect="1"/>
          </p:cNvPicPr>
          <p:nvPr/>
        </p:nvPicPr>
        <p:blipFill>
          <a:blip r:embed="rId2"/>
          <a:stretch>
            <a:fillRect/>
          </a:stretch>
        </p:blipFill>
        <p:spPr>
          <a:xfrm>
            <a:off x="0" y="2936241"/>
            <a:ext cx="6016424" cy="3774006"/>
          </a:xfrm>
          <a:prstGeom prst="rect">
            <a:avLst/>
          </a:prstGeom>
        </p:spPr>
      </p:pic>
      <p:pic>
        <p:nvPicPr>
          <p:cNvPr id="7" name="Picture 6">
            <a:extLst>
              <a:ext uri="{FF2B5EF4-FFF2-40B4-BE49-F238E27FC236}">
                <a16:creationId xmlns:a16="http://schemas.microsoft.com/office/drawing/2014/main" id="{98A47DDB-DA10-F972-2AC9-4A499F9094D1}"/>
              </a:ext>
            </a:extLst>
          </p:cNvPr>
          <p:cNvPicPr>
            <a:picLocks noChangeAspect="1"/>
          </p:cNvPicPr>
          <p:nvPr/>
        </p:nvPicPr>
        <p:blipFill>
          <a:blip r:embed="rId3"/>
          <a:stretch>
            <a:fillRect/>
          </a:stretch>
        </p:blipFill>
        <p:spPr>
          <a:xfrm>
            <a:off x="6292539" y="863600"/>
            <a:ext cx="5897920" cy="3001791"/>
          </a:xfrm>
          <a:prstGeom prst="rect">
            <a:avLst/>
          </a:prstGeom>
        </p:spPr>
      </p:pic>
    </p:spTree>
    <p:extLst>
      <p:ext uri="{BB962C8B-B14F-4D97-AF65-F5344CB8AC3E}">
        <p14:creationId xmlns:p14="http://schemas.microsoft.com/office/powerpoint/2010/main" val="2642003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D96C9E-0F60-8957-878E-1D9A310C21B4}"/>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22B527B1-47CD-D136-ABEE-49AA20E31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2538FA-B54E-49F7-A0E1-96500D36201E}"/>
              </a:ext>
            </a:extLst>
          </p:cNvPr>
          <p:cNvSpPr>
            <a:spLocks noGrp="1"/>
          </p:cNvSpPr>
          <p:nvPr>
            <p:ph type="ctrTitle"/>
          </p:nvPr>
        </p:nvSpPr>
        <p:spPr>
          <a:xfrm>
            <a:off x="0" y="-121487"/>
            <a:ext cx="8575040" cy="2387600"/>
          </a:xfrm>
        </p:spPr>
        <p:txBody>
          <a:bodyPr anchor="ctr">
            <a:normAutofit fontScale="90000"/>
          </a:bodyPr>
          <a:lstStyle/>
          <a:p>
            <a:pPr lvl="0"/>
            <a:r>
              <a:rPr lang="en-US" sz="4800" i="1" dirty="0">
                <a:solidFill>
                  <a:srgbClr val="FFFFFF"/>
                </a:solidFill>
              </a:rPr>
              <a:t>Updates from Feedback from POE Part 2 to Part 3 </a:t>
            </a:r>
            <a:br>
              <a:rPr lang="en-US" sz="4800" i="1" dirty="0">
                <a:solidFill>
                  <a:srgbClr val="FFFFFF"/>
                </a:solidFill>
              </a:rPr>
            </a:br>
            <a:r>
              <a:rPr lang="en-US" sz="4800" i="1" dirty="0">
                <a:solidFill>
                  <a:srgbClr val="FFFFFF"/>
                </a:solidFill>
              </a:rPr>
              <a:t>(Claim Tracking Improvements)</a:t>
            </a:r>
          </a:p>
        </p:txBody>
      </p:sp>
      <p:sp>
        <p:nvSpPr>
          <p:cNvPr id="49" name="Rectangle 48">
            <a:extLst>
              <a:ext uri="{FF2B5EF4-FFF2-40B4-BE49-F238E27FC236}">
                <a16:creationId xmlns:a16="http://schemas.microsoft.com/office/drawing/2014/main" id="{40EE8374-8D7F-61E4-BC1C-A450C39E12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3" name="Subtitle 2">
            <a:extLst>
              <a:ext uri="{FF2B5EF4-FFF2-40B4-BE49-F238E27FC236}">
                <a16:creationId xmlns:a16="http://schemas.microsoft.com/office/drawing/2014/main" id="{6A3728EB-AABF-964F-8D1B-356CF834B320}"/>
              </a:ext>
            </a:extLst>
          </p:cNvPr>
          <p:cNvSpPr>
            <a:spLocks noGrp="1"/>
          </p:cNvSpPr>
          <p:nvPr>
            <p:ph type="subTitle" idx="1"/>
          </p:nvPr>
        </p:nvSpPr>
        <p:spPr>
          <a:xfrm>
            <a:off x="6817360" y="2086988"/>
            <a:ext cx="5130800" cy="2387600"/>
          </a:xfrm>
        </p:spPr>
        <p:txBody>
          <a:bodyPr>
            <a:normAutofit fontScale="47500" lnSpcReduction="20000"/>
          </a:bodyPr>
          <a:lstStyle/>
          <a:p>
            <a:r>
              <a:rPr lang="en-US" sz="1200" dirty="0">
                <a:solidFill>
                  <a:srgbClr val="FFFFFF"/>
                </a:solidFill>
              </a:rPr>
              <a:t>- </a:t>
            </a:r>
            <a:r>
              <a:rPr lang="en-US" sz="3600" dirty="0"/>
              <a:t>• Accurate status changes: Submitted - Under Review - Approved.</a:t>
            </a:r>
          </a:p>
          <a:p>
            <a:r>
              <a:rPr lang="en-US" sz="3600" dirty="0"/>
              <a:t>• Two-step approval enforced (PC + AM).</a:t>
            </a:r>
          </a:p>
          <a:p>
            <a:r>
              <a:rPr lang="en-US" sz="3600" dirty="0"/>
              <a:t>• Lecturer only sees final approval when both roles confirm.</a:t>
            </a:r>
          </a:p>
          <a:p>
            <a:endParaRPr lang="en-US" sz="1200" dirty="0">
              <a:solidFill>
                <a:schemeClr val="bg1"/>
              </a:solidFill>
            </a:endParaRPr>
          </a:p>
        </p:txBody>
      </p:sp>
      <p:pic>
        <p:nvPicPr>
          <p:cNvPr id="6" name="Picture 5">
            <a:extLst>
              <a:ext uri="{FF2B5EF4-FFF2-40B4-BE49-F238E27FC236}">
                <a16:creationId xmlns:a16="http://schemas.microsoft.com/office/drawing/2014/main" id="{7192161A-276A-7AD5-FB61-07915777D4CF}"/>
              </a:ext>
            </a:extLst>
          </p:cNvPr>
          <p:cNvPicPr>
            <a:picLocks noChangeAspect="1"/>
          </p:cNvPicPr>
          <p:nvPr/>
        </p:nvPicPr>
        <p:blipFill>
          <a:blip r:embed="rId2"/>
          <a:stretch>
            <a:fillRect/>
          </a:stretch>
        </p:blipFill>
        <p:spPr>
          <a:xfrm>
            <a:off x="-1541" y="4381178"/>
            <a:ext cx="12188952" cy="2387600"/>
          </a:xfrm>
          <a:prstGeom prst="rect">
            <a:avLst/>
          </a:prstGeom>
        </p:spPr>
      </p:pic>
      <p:pic>
        <p:nvPicPr>
          <p:cNvPr id="9" name="Picture 8">
            <a:extLst>
              <a:ext uri="{FF2B5EF4-FFF2-40B4-BE49-F238E27FC236}">
                <a16:creationId xmlns:a16="http://schemas.microsoft.com/office/drawing/2014/main" id="{5FBFB3B9-90F3-5C26-8451-D634CC994A7A}"/>
              </a:ext>
            </a:extLst>
          </p:cNvPr>
          <p:cNvPicPr>
            <a:picLocks noChangeAspect="1"/>
          </p:cNvPicPr>
          <p:nvPr/>
        </p:nvPicPr>
        <p:blipFill>
          <a:blip r:embed="rId3"/>
          <a:stretch>
            <a:fillRect/>
          </a:stretch>
        </p:blipFill>
        <p:spPr>
          <a:xfrm>
            <a:off x="-1541" y="2187332"/>
            <a:ext cx="6204575" cy="2104624"/>
          </a:xfrm>
          <a:prstGeom prst="rect">
            <a:avLst/>
          </a:prstGeom>
        </p:spPr>
      </p:pic>
    </p:spTree>
    <p:extLst>
      <p:ext uri="{BB962C8B-B14F-4D97-AF65-F5344CB8AC3E}">
        <p14:creationId xmlns:p14="http://schemas.microsoft.com/office/powerpoint/2010/main" val="1193157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ACAC10-1FBF-6D82-70CA-D5B4FF3E838C}"/>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1462CDD9-F99E-8907-B546-0557EEA8A1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30E4AA-5A60-0230-1C68-15A5A8C9F868}"/>
              </a:ext>
            </a:extLst>
          </p:cNvPr>
          <p:cNvSpPr>
            <a:spLocks noGrp="1"/>
          </p:cNvSpPr>
          <p:nvPr>
            <p:ph type="ctrTitle"/>
          </p:nvPr>
        </p:nvSpPr>
        <p:spPr>
          <a:xfrm>
            <a:off x="0" y="149916"/>
            <a:ext cx="8669633" cy="2146931"/>
          </a:xfrm>
        </p:spPr>
        <p:txBody>
          <a:bodyPr anchor="ctr">
            <a:normAutofit fontScale="90000"/>
          </a:bodyPr>
          <a:lstStyle/>
          <a:p>
            <a:pPr lvl="0"/>
            <a:r>
              <a:rPr lang="en-US" sz="4800" i="1" dirty="0">
                <a:solidFill>
                  <a:srgbClr val="FFFFFF"/>
                </a:solidFill>
              </a:rPr>
              <a:t>Design and new Features of Part 3 in the web app</a:t>
            </a:r>
            <a:br>
              <a:rPr lang="en-US" sz="4800" i="1" dirty="0">
                <a:solidFill>
                  <a:srgbClr val="FFFFFF"/>
                </a:solidFill>
              </a:rPr>
            </a:br>
            <a:br>
              <a:rPr lang="en-US" sz="4800" i="1" dirty="0">
                <a:solidFill>
                  <a:srgbClr val="FFFFFF"/>
                </a:solidFill>
              </a:rPr>
            </a:br>
            <a:r>
              <a:rPr lang="en-US" sz="4800" i="1" dirty="0">
                <a:solidFill>
                  <a:schemeClr val="tx1"/>
                </a:solidFill>
              </a:rPr>
              <a:t>SQL Integration:</a:t>
            </a:r>
          </a:p>
        </p:txBody>
      </p:sp>
      <p:sp>
        <p:nvSpPr>
          <p:cNvPr id="49" name="Rectangle 48">
            <a:extLst>
              <a:ext uri="{FF2B5EF4-FFF2-40B4-BE49-F238E27FC236}">
                <a16:creationId xmlns:a16="http://schemas.microsoft.com/office/drawing/2014/main" id="{F7310E6E-2C9C-48CA-D4EF-4A5634944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4" name="Rectangle 1">
            <a:extLst>
              <a:ext uri="{FF2B5EF4-FFF2-40B4-BE49-F238E27FC236}">
                <a16:creationId xmlns:a16="http://schemas.microsoft.com/office/drawing/2014/main" id="{25F4F6BC-1C0A-2F17-62E1-93647FC1DFD0}"/>
              </a:ext>
            </a:extLst>
          </p:cNvPr>
          <p:cNvSpPr>
            <a:spLocks noChangeArrowheads="1"/>
          </p:cNvSpPr>
          <p:nvPr/>
        </p:nvSpPr>
        <p:spPr bwMode="auto">
          <a:xfrm>
            <a:off x="-1541" y="2527003"/>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12" name="Picture 11">
            <a:extLst>
              <a:ext uri="{FF2B5EF4-FFF2-40B4-BE49-F238E27FC236}">
                <a16:creationId xmlns:a16="http://schemas.microsoft.com/office/drawing/2014/main" id="{23108B5E-CF8F-BC0E-C3FB-F492FA04E5AB}"/>
              </a:ext>
            </a:extLst>
          </p:cNvPr>
          <p:cNvPicPr>
            <a:picLocks noChangeAspect="1"/>
          </p:cNvPicPr>
          <p:nvPr/>
        </p:nvPicPr>
        <p:blipFill>
          <a:blip r:embed="rId2"/>
          <a:stretch>
            <a:fillRect/>
          </a:stretch>
        </p:blipFill>
        <p:spPr>
          <a:xfrm>
            <a:off x="5775414" y="3871924"/>
            <a:ext cx="6169341" cy="2836159"/>
          </a:xfrm>
          <a:prstGeom prst="rect">
            <a:avLst/>
          </a:prstGeom>
        </p:spPr>
      </p:pic>
      <p:pic>
        <p:nvPicPr>
          <p:cNvPr id="14" name="Picture 13">
            <a:extLst>
              <a:ext uri="{FF2B5EF4-FFF2-40B4-BE49-F238E27FC236}">
                <a16:creationId xmlns:a16="http://schemas.microsoft.com/office/drawing/2014/main" id="{73A92DDE-6A5D-3A61-1D9A-04540447229D}"/>
              </a:ext>
            </a:extLst>
          </p:cNvPr>
          <p:cNvPicPr>
            <a:picLocks noChangeAspect="1"/>
          </p:cNvPicPr>
          <p:nvPr/>
        </p:nvPicPr>
        <p:blipFill>
          <a:blip r:embed="rId3"/>
          <a:stretch>
            <a:fillRect/>
          </a:stretch>
        </p:blipFill>
        <p:spPr>
          <a:xfrm>
            <a:off x="6644346" y="1077440"/>
            <a:ext cx="5254660" cy="2712720"/>
          </a:xfrm>
          <a:prstGeom prst="rect">
            <a:avLst/>
          </a:prstGeom>
        </p:spPr>
      </p:pic>
      <p:sp>
        <p:nvSpPr>
          <p:cNvPr id="17" name="TextBox 16">
            <a:extLst>
              <a:ext uri="{FF2B5EF4-FFF2-40B4-BE49-F238E27FC236}">
                <a16:creationId xmlns:a16="http://schemas.microsoft.com/office/drawing/2014/main" id="{87052ED1-5A75-B4CB-9FE9-E2379A524D2D}"/>
              </a:ext>
            </a:extLst>
          </p:cNvPr>
          <p:cNvSpPr txBox="1"/>
          <p:nvPr/>
        </p:nvSpPr>
        <p:spPr>
          <a:xfrm>
            <a:off x="0" y="2433800"/>
            <a:ext cx="5254660" cy="424731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solidFill>
                <a:effectLst/>
                <a:latin typeface="Arial" panose="020B0604020202020204" pitchFamily="34" charset="0"/>
              </a:rPr>
              <a:t>Entity Framework Core is currently used to properly integrate the CMCS system with SQL Server. This indicates that every user account, claim, document, and approval is safely kept in a relational database. Data corruption is prevented by SQL Server's automatic enforcement of foreign key associations, such as tying claims to users.</a:t>
            </a:r>
            <a:br>
              <a:rPr kumimoji="0" lang="en-US" altLang="en-US" sz="1800" b="0" i="0" u="none" strike="noStrike" cap="none" normalizeH="0" baseline="0" dirty="0">
                <a:ln>
                  <a:noFill/>
                </a:ln>
                <a:solidFill>
                  <a:schemeClr val="bg1"/>
                </a:solidFill>
                <a:effectLst/>
                <a:latin typeface="Arial" panose="020B0604020202020204" pitchFamily="34" charset="0"/>
              </a:rPr>
            </a:b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rPr>
              <a:t>As new features are added, the database schema may be safely updated thanks to the integration's support for migrations. For instance, EF Core migrations were used to smoothly incorporate the professor rate fields, claim documents table, and two-step approval fields. As a result, the system is industry-ready, scalable, and maintainable.</a:t>
            </a:r>
          </a:p>
        </p:txBody>
      </p:sp>
    </p:spTree>
    <p:extLst>
      <p:ext uri="{BB962C8B-B14F-4D97-AF65-F5344CB8AC3E}">
        <p14:creationId xmlns:p14="http://schemas.microsoft.com/office/powerpoint/2010/main" val="4025055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23D1F4-B22E-A435-54EE-690257F53B1C}"/>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81B0345B-F09A-EDAE-155E-79B6BB5DE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3A5DF3-6432-9CE3-95E4-28B6419A954D}"/>
              </a:ext>
            </a:extLst>
          </p:cNvPr>
          <p:cNvSpPr>
            <a:spLocks noGrp="1"/>
          </p:cNvSpPr>
          <p:nvPr>
            <p:ph type="ctrTitle"/>
          </p:nvPr>
        </p:nvSpPr>
        <p:spPr>
          <a:xfrm>
            <a:off x="0" y="149916"/>
            <a:ext cx="8669633" cy="2146931"/>
          </a:xfrm>
        </p:spPr>
        <p:txBody>
          <a:bodyPr anchor="ctr">
            <a:normAutofit fontScale="90000"/>
          </a:bodyPr>
          <a:lstStyle/>
          <a:p>
            <a:pPr lvl="0"/>
            <a:r>
              <a:rPr lang="en-US" sz="4800" i="1" dirty="0">
                <a:solidFill>
                  <a:srgbClr val="FFFFFF"/>
                </a:solidFill>
              </a:rPr>
              <a:t>Design and new Features of Part 3 in the Web app</a:t>
            </a:r>
            <a:br>
              <a:rPr lang="en-US" sz="4800" i="1" dirty="0">
                <a:solidFill>
                  <a:srgbClr val="FFFFFF"/>
                </a:solidFill>
              </a:rPr>
            </a:br>
            <a:br>
              <a:rPr lang="en-US" sz="4800" i="1" dirty="0">
                <a:solidFill>
                  <a:srgbClr val="FFFFFF"/>
                </a:solidFill>
              </a:rPr>
            </a:br>
            <a:r>
              <a:rPr lang="en-US" sz="4800" i="1" dirty="0">
                <a:solidFill>
                  <a:schemeClr val="tx1"/>
                </a:solidFill>
              </a:rPr>
              <a:t>Invoice Generation:</a:t>
            </a:r>
          </a:p>
        </p:txBody>
      </p:sp>
      <p:sp>
        <p:nvSpPr>
          <p:cNvPr id="49" name="Rectangle 48">
            <a:extLst>
              <a:ext uri="{FF2B5EF4-FFF2-40B4-BE49-F238E27FC236}">
                <a16:creationId xmlns:a16="http://schemas.microsoft.com/office/drawing/2014/main" id="{AB7F3257-E57D-1043-AB07-26B23A013F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4" name="Rectangle 1">
            <a:extLst>
              <a:ext uri="{FF2B5EF4-FFF2-40B4-BE49-F238E27FC236}">
                <a16:creationId xmlns:a16="http://schemas.microsoft.com/office/drawing/2014/main" id="{A54705A7-747A-5D9B-43A1-708D9CD5A8A2}"/>
              </a:ext>
            </a:extLst>
          </p:cNvPr>
          <p:cNvSpPr>
            <a:spLocks noChangeArrowheads="1"/>
          </p:cNvSpPr>
          <p:nvPr/>
        </p:nvSpPr>
        <p:spPr bwMode="auto">
          <a:xfrm>
            <a:off x="-1541" y="2527003"/>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5" name="Picture 4">
            <a:extLst>
              <a:ext uri="{FF2B5EF4-FFF2-40B4-BE49-F238E27FC236}">
                <a16:creationId xmlns:a16="http://schemas.microsoft.com/office/drawing/2014/main" id="{255C4F41-DED6-F94F-59CC-6F73C565B912}"/>
              </a:ext>
            </a:extLst>
          </p:cNvPr>
          <p:cNvPicPr>
            <a:picLocks noChangeAspect="1"/>
          </p:cNvPicPr>
          <p:nvPr/>
        </p:nvPicPr>
        <p:blipFill>
          <a:blip r:embed="rId2"/>
          <a:stretch>
            <a:fillRect/>
          </a:stretch>
        </p:blipFill>
        <p:spPr>
          <a:xfrm>
            <a:off x="6482056" y="1080961"/>
            <a:ext cx="5655476" cy="3938079"/>
          </a:xfrm>
          <a:prstGeom prst="rect">
            <a:avLst/>
          </a:prstGeom>
        </p:spPr>
      </p:pic>
      <p:pic>
        <p:nvPicPr>
          <p:cNvPr id="7" name="Picture 6">
            <a:extLst>
              <a:ext uri="{FF2B5EF4-FFF2-40B4-BE49-F238E27FC236}">
                <a16:creationId xmlns:a16="http://schemas.microsoft.com/office/drawing/2014/main" id="{6926A387-0DFB-6AE8-1359-6376FF0DE227}"/>
              </a:ext>
            </a:extLst>
          </p:cNvPr>
          <p:cNvPicPr>
            <a:picLocks noChangeAspect="1"/>
          </p:cNvPicPr>
          <p:nvPr/>
        </p:nvPicPr>
        <p:blipFill>
          <a:blip r:embed="rId3"/>
          <a:stretch>
            <a:fillRect/>
          </a:stretch>
        </p:blipFill>
        <p:spPr>
          <a:xfrm>
            <a:off x="6534983" y="5179995"/>
            <a:ext cx="5655476" cy="988891"/>
          </a:xfrm>
          <a:prstGeom prst="rect">
            <a:avLst/>
          </a:prstGeom>
        </p:spPr>
      </p:pic>
      <p:sp>
        <p:nvSpPr>
          <p:cNvPr id="10" name="TextBox 9">
            <a:extLst>
              <a:ext uri="{FF2B5EF4-FFF2-40B4-BE49-F238E27FC236}">
                <a16:creationId xmlns:a16="http://schemas.microsoft.com/office/drawing/2014/main" id="{D09A14D9-E29B-D78C-B738-167A203F4E55}"/>
              </a:ext>
            </a:extLst>
          </p:cNvPr>
          <p:cNvSpPr txBox="1"/>
          <p:nvPr/>
        </p:nvSpPr>
        <p:spPr>
          <a:xfrm>
            <a:off x="-1541" y="2523842"/>
            <a:ext cx="6427622" cy="369331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solidFill>
                <a:effectLst/>
                <a:latin typeface="Arial" panose="020B0604020202020204" pitchFamily="34" charset="0"/>
              </a:rPr>
              <a:t>My system's invoice creation capability was created to provide HR with a transparent financial summary of all lecturer claims. By classifying authorized claims according to professor, the system automatically creates invoice-style summary. Without the need for human input, this grouping determines the total number of hours worked and the total sum authorized for each lecturer.</a:t>
            </a:r>
            <a:br>
              <a:rPr kumimoji="0" lang="en-US" altLang="en-US" sz="1800" b="0" i="0" u="none" strike="noStrike" cap="none" normalizeH="0" baseline="0" dirty="0">
                <a:ln>
                  <a:noFill/>
                </a:ln>
                <a:solidFill>
                  <a:schemeClr val="bg1"/>
                </a:solidFill>
                <a:effectLst/>
                <a:latin typeface="Arial" panose="020B0604020202020204" pitchFamily="34" charset="0"/>
              </a:rPr>
            </a:b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rPr>
              <a:t>A thorough drill-down view is also included in the invoice production process. To view a complete breakdown of all claims included in that invoice total, HR can click on any lecturer. This guarantees that HR can precisely verify each amount and increases the transparency of financial tracking</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308585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CF69CF-D319-158C-8F12-0DD7961E4725}"/>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C550595F-3E42-1B36-3691-F72B331040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6020F-294E-785C-25DF-414349A0B348}"/>
              </a:ext>
            </a:extLst>
          </p:cNvPr>
          <p:cNvSpPr>
            <a:spLocks noGrp="1"/>
          </p:cNvSpPr>
          <p:nvPr>
            <p:ph type="ctrTitle"/>
          </p:nvPr>
        </p:nvSpPr>
        <p:spPr>
          <a:xfrm>
            <a:off x="-111760" y="242669"/>
            <a:ext cx="9083040" cy="2512004"/>
          </a:xfrm>
        </p:spPr>
        <p:txBody>
          <a:bodyPr anchor="ctr">
            <a:normAutofit fontScale="90000"/>
          </a:bodyPr>
          <a:lstStyle/>
          <a:p>
            <a:pPr lvl="0"/>
            <a:r>
              <a:rPr lang="en-US" sz="4800" i="1" dirty="0">
                <a:solidFill>
                  <a:srgbClr val="FFFFFF"/>
                </a:solidFill>
              </a:rPr>
              <a:t>Design and new Features of Part 3 in the Web app</a:t>
            </a:r>
            <a:br>
              <a:rPr lang="en-US" sz="4800" i="1" dirty="0">
                <a:solidFill>
                  <a:srgbClr val="FFFFFF"/>
                </a:solidFill>
              </a:rPr>
            </a:br>
            <a:br>
              <a:rPr lang="en-US" sz="4800" i="1" dirty="0">
                <a:solidFill>
                  <a:srgbClr val="FFFFFF"/>
                </a:solidFill>
              </a:rPr>
            </a:br>
            <a:r>
              <a:rPr lang="en-US" sz="4800" i="1" dirty="0">
                <a:solidFill>
                  <a:schemeClr val="tx1"/>
                </a:solidFill>
              </a:rPr>
              <a:t>Automated Hourly Rate/Total Calculations:</a:t>
            </a:r>
          </a:p>
        </p:txBody>
      </p:sp>
      <p:sp>
        <p:nvSpPr>
          <p:cNvPr id="49" name="Rectangle 48">
            <a:extLst>
              <a:ext uri="{FF2B5EF4-FFF2-40B4-BE49-F238E27FC236}">
                <a16:creationId xmlns:a16="http://schemas.microsoft.com/office/drawing/2014/main" id="{AC2C77E0-8A6E-DC02-5109-BE27EBDCD3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4" name="Rectangle 1">
            <a:extLst>
              <a:ext uri="{FF2B5EF4-FFF2-40B4-BE49-F238E27FC236}">
                <a16:creationId xmlns:a16="http://schemas.microsoft.com/office/drawing/2014/main" id="{E7008900-0F08-C9ED-26E5-6912AD61E3E7}"/>
              </a:ext>
            </a:extLst>
          </p:cNvPr>
          <p:cNvSpPr>
            <a:spLocks noChangeArrowheads="1"/>
          </p:cNvSpPr>
          <p:nvPr/>
        </p:nvSpPr>
        <p:spPr bwMode="auto">
          <a:xfrm>
            <a:off x="-1541" y="2527003"/>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0" name="TextBox 9">
            <a:extLst>
              <a:ext uri="{FF2B5EF4-FFF2-40B4-BE49-F238E27FC236}">
                <a16:creationId xmlns:a16="http://schemas.microsoft.com/office/drawing/2014/main" id="{86CE5033-A59D-0DB0-819F-218E52E0A2F9}"/>
              </a:ext>
            </a:extLst>
          </p:cNvPr>
          <p:cNvSpPr txBox="1"/>
          <p:nvPr/>
        </p:nvSpPr>
        <p:spPr>
          <a:xfrm>
            <a:off x="122852" y="2997342"/>
            <a:ext cx="642762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2" name="TextBox 11">
            <a:extLst>
              <a:ext uri="{FF2B5EF4-FFF2-40B4-BE49-F238E27FC236}">
                <a16:creationId xmlns:a16="http://schemas.microsoft.com/office/drawing/2014/main" id="{FADA7621-2FC4-4000-6AD5-4BE2B87FFE4D}"/>
              </a:ext>
            </a:extLst>
          </p:cNvPr>
          <p:cNvSpPr txBox="1"/>
          <p:nvPr/>
        </p:nvSpPr>
        <p:spPr>
          <a:xfrm>
            <a:off x="-1541" y="3051856"/>
            <a:ext cx="7062741" cy="37856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Arial" panose="020B0604020202020204" pitchFamily="34" charset="0"/>
              </a:rPr>
              <a:t>The system's automatic computation of claim totals based on the lecturer's hourly rate is another significant improvement. The system now retrieves the hourly rate straight from the user's profile, eliminating the need for lecturers to manually enter their rate, which frequently results in errors or discrepancies.</a:t>
            </a:r>
            <a:br>
              <a:rPr kumimoji="0" lang="en-US" altLang="en-US" sz="1600" b="0" i="0" u="none" strike="noStrike" cap="none" normalizeH="0" baseline="0" dirty="0">
                <a:ln>
                  <a:noFill/>
                </a:ln>
                <a:solidFill>
                  <a:schemeClr val="bg1"/>
                </a:solidFill>
                <a:effectLst/>
                <a:latin typeface="Arial" panose="020B0604020202020204" pitchFamily="34" charset="0"/>
              </a:rPr>
            </a:br>
            <a:br>
              <a:rPr kumimoji="0" lang="en-US" altLang="en-US" sz="1600" b="0" i="0" u="none" strike="noStrike" cap="none" normalizeH="0" baseline="0" dirty="0">
                <a:ln>
                  <a:noFill/>
                </a:ln>
                <a:solidFill>
                  <a:schemeClr val="bg1"/>
                </a:solidFill>
                <a:effectLst/>
                <a:latin typeface="Arial" panose="020B0604020202020204" pitchFamily="34" charset="0"/>
              </a:rPr>
            </a:br>
            <a:r>
              <a:rPr kumimoji="0" lang="en-US" altLang="en-US" sz="1600" b="0" i="0" u="none" strike="noStrike" cap="none" normalizeH="0" baseline="0" dirty="0">
                <a:ln>
                  <a:noFill/>
                </a:ln>
                <a:solidFill>
                  <a:schemeClr val="bg1"/>
                </a:solidFill>
                <a:effectLst/>
                <a:latin typeface="Arial" panose="020B0604020202020204" pitchFamily="34" charset="0"/>
              </a:rPr>
              <a:t>The system automatically determines the following when a lecturer files a claim:</a:t>
            </a:r>
            <a:br>
              <a:rPr kumimoji="0" lang="en-US" altLang="en-US" sz="1600" b="0" i="0" u="none" strike="noStrike" cap="none" normalizeH="0" baseline="0" dirty="0">
                <a:ln>
                  <a:noFill/>
                </a:ln>
                <a:solidFill>
                  <a:schemeClr val="bg1"/>
                </a:solidFill>
                <a:effectLst/>
                <a:latin typeface="Arial" panose="020B0604020202020204" pitchFamily="34" charset="0"/>
              </a:rPr>
            </a:br>
            <a:br>
              <a:rPr kumimoji="0" lang="en-US" altLang="en-US" sz="1600" b="0" i="0" u="none" strike="noStrike" cap="none" normalizeH="0" baseline="0" dirty="0">
                <a:ln>
                  <a:noFill/>
                </a:ln>
                <a:solidFill>
                  <a:schemeClr val="bg1"/>
                </a:solidFill>
                <a:effectLst/>
                <a:latin typeface="Arial" panose="020B0604020202020204" pitchFamily="34" charset="0"/>
              </a:rPr>
            </a:br>
            <a:r>
              <a:rPr kumimoji="0" lang="en-US" altLang="en-US" sz="1600" b="0" i="0" u="none" strike="noStrike" cap="none" normalizeH="0" baseline="0" dirty="0">
                <a:ln>
                  <a:noFill/>
                </a:ln>
                <a:solidFill>
                  <a:schemeClr val="bg1"/>
                </a:solidFill>
                <a:effectLst/>
                <a:latin typeface="Arial" panose="020B0604020202020204" pitchFamily="34" charset="0"/>
              </a:rPr>
              <a:t>Hours Worked × Hourly Rate = Total Amount</a:t>
            </a:r>
            <a:br>
              <a:rPr kumimoji="0" lang="en-US" altLang="en-US" sz="1600" b="0" i="0" u="none" strike="noStrike" cap="none" normalizeH="0" baseline="0" dirty="0">
                <a:ln>
                  <a:noFill/>
                </a:ln>
                <a:solidFill>
                  <a:schemeClr val="bg1"/>
                </a:solidFill>
                <a:effectLst/>
                <a:latin typeface="Arial" panose="020B0604020202020204" pitchFamily="34" charset="0"/>
              </a:rPr>
            </a:br>
            <a:br>
              <a:rPr kumimoji="0" lang="en-US" altLang="en-US" sz="1600" b="0" i="0" u="none" strike="noStrike" cap="none" normalizeH="0" baseline="0" dirty="0">
                <a:ln>
                  <a:noFill/>
                </a:ln>
                <a:solidFill>
                  <a:schemeClr val="bg1"/>
                </a:solidFill>
                <a:effectLst/>
                <a:latin typeface="Arial" panose="020B0604020202020204" pitchFamily="34" charset="0"/>
              </a:rPr>
            </a:br>
            <a:r>
              <a:rPr kumimoji="0" lang="en-US" altLang="en-US" sz="1600" b="0" i="0" u="none" strike="noStrike" cap="none" normalizeH="0" baseline="0" dirty="0">
                <a:ln>
                  <a:noFill/>
                </a:ln>
                <a:solidFill>
                  <a:schemeClr val="bg1"/>
                </a:solidFill>
                <a:effectLst/>
                <a:latin typeface="Arial" panose="020B0604020202020204" pitchFamily="34" charset="0"/>
              </a:rPr>
              <a:t>This eliminates laborious calculations, increases uniformity, and lowers errors. Additionally, it facilitates the two-step approval process, guaranteeing that academic managers and program coordinators can examine precise financial data.</a:t>
            </a:r>
          </a:p>
        </p:txBody>
      </p:sp>
      <p:pic>
        <p:nvPicPr>
          <p:cNvPr id="14" name="Picture 13">
            <a:extLst>
              <a:ext uri="{FF2B5EF4-FFF2-40B4-BE49-F238E27FC236}">
                <a16:creationId xmlns:a16="http://schemas.microsoft.com/office/drawing/2014/main" id="{F8EF8338-3B86-4C61-BF14-9B35E485C2A0}"/>
              </a:ext>
            </a:extLst>
          </p:cNvPr>
          <p:cNvPicPr>
            <a:picLocks noChangeAspect="1"/>
          </p:cNvPicPr>
          <p:nvPr/>
        </p:nvPicPr>
        <p:blipFill>
          <a:blip r:embed="rId2"/>
          <a:stretch>
            <a:fillRect/>
          </a:stretch>
        </p:blipFill>
        <p:spPr>
          <a:xfrm>
            <a:off x="7182545" y="2372322"/>
            <a:ext cx="4911385" cy="4170717"/>
          </a:xfrm>
          <a:prstGeom prst="rect">
            <a:avLst/>
          </a:prstGeom>
        </p:spPr>
      </p:pic>
    </p:spTree>
    <p:extLst>
      <p:ext uri="{BB962C8B-B14F-4D97-AF65-F5344CB8AC3E}">
        <p14:creationId xmlns:p14="http://schemas.microsoft.com/office/powerpoint/2010/main" val="1623479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CB4AB7-0798-8837-2B04-8A0F2177F952}"/>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FA8EDE87-A9DC-DE92-1066-FBF985484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9494F5-D38A-92CF-5EBB-CA7C4F994DD2}"/>
              </a:ext>
            </a:extLst>
          </p:cNvPr>
          <p:cNvSpPr>
            <a:spLocks noGrp="1"/>
          </p:cNvSpPr>
          <p:nvPr>
            <p:ph type="ctrTitle"/>
          </p:nvPr>
        </p:nvSpPr>
        <p:spPr>
          <a:xfrm>
            <a:off x="-111760" y="242669"/>
            <a:ext cx="9083040" cy="2512004"/>
          </a:xfrm>
        </p:spPr>
        <p:txBody>
          <a:bodyPr anchor="ctr">
            <a:normAutofit fontScale="90000"/>
          </a:bodyPr>
          <a:lstStyle/>
          <a:p>
            <a:pPr lvl="0"/>
            <a:r>
              <a:rPr lang="en-US" sz="4800" i="1" dirty="0">
                <a:solidFill>
                  <a:srgbClr val="FFFFFF"/>
                </a:solidFill>
              </a:rPr>
              <a:t>Design and new Features of Part 3 in the Web app</a:t>
            </a:r>
            <a:br>
              <a:rPr lang="en-US" sz="4800" i="1" dirty="0">
                <a:solidFill>
                  <a:srgbClr val="FFFFFF"/>
                </a:solidFill>
              </a:rPr>
            </a:br>
            <a:br>
              <a:rPr lang="en-US" sz="4800" i="1" dirty="0">
                <a:solidFill>
                  <a:srgbClr val="FFFFFF"/>
                </a:solidFill>
              </a:rPr>
            </a:br>
            <a:r>
              <a:rPr lang="en-US" sz="4800" i="1" dirty="0">
                <a:solidFill>
                  <a:schemeClr val="tx1"/>
                </a:solidFill>
              </a:rPr>
              <a:t>HR Super User:</a:t>
            </a:r>
          </a:p>
        </p:txBody>
      </p:sp>
      <p:sp>
        <p:nvSpPr>
          <p:cNvPr id="49" name="Rectangle 48">
            <a:extLst>
              <a:ext uri="{FF2B5EF4-FFF2-40B4-BE49-F238E27FC236}">
                <a16:creationId xmlns:a16="http://schemas.microsoft.com/office/drawing/2014/main" id="{E0AABF2F-24D2-6859-143A-04D5A737F1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4" name="Rectangle 1">
            <a:extLst>
              <a:ext uri="{FF2B5EF4-FFF2-40B4-BE49-F238E27FC236}">
                <a16:creationId xmlns:a16="http://schemas.microsoft.com/office/drawing/2014/main" id="{3CB8FB13-4CCA-D0A2-CCEE-884C62B2E5DD}"/>
              </a:ext>
            </a:extLst>
          </p:cNvPr>
          <p:cNvSpPr>
            <a:spLocks noChangeArrowheads="1"/>
          </p:cNvSpPr>
          <p:nvPr/>
        </p:nvSpPr>
        <p:spPr bwMode="auto">
          <a:xfrm>
            <a:off x="-1541" y="2527003"/>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0" name="TextBox 9">
            <a:extLst>
              <a:ext uri="{FF2B5EF4-FFF2-40B4-BE49-F238E27FC236}">
                <a16:creationId xmlns:a16="http://schemas.microsoft.com/office/drawing/2014/main" id="{CEBE41FC-421D-7334-CF83-03619790BBD9}"/>
              </a:ext>
            </a:extLst>
          </p:cNvPr>
          <p:cNvSpPr txBox="1"/>
          <p:nvPr/>
        </p:nvSpPr>
        <p:spPr>
          <a:xfrm>
            <a:off x="122852" y="2997342"/>
            <a:ext cx="642762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TextBox 5">
            <a:extLst>
              <a:ext uri="{FF2B5EF4-FFF2-40B4-BE49-F238E27FC236}">
                <a16:creationId xmlns:a16="http://schemas.microsoft.com/office/drawing/2014/main" id="{C2853BB7-D850-A752-745D-F45D0BD6A970}"/>
              </a:ext>
            </a:extLst>
          </p:cNvPr>
          <p:cNvSpPr txBox="1"/>
          <p:nvPr/>
        </p:nvSpPr>
        <p:spPr>
          <a:xfrm>
            <a:off x="24748" y="3166015"/>
            <a:ext cx="5766452" cy="369331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solidFill>
                <a:effectLst/>
                <a:latin typeface="Arial" panose="020B0604020202020204" pitchFamily="34" charset="0"/>
              </a:rPr>
              <a:t>The inclusion of a full HR position in the latest version of the CMCS system is one of its most significant enhancements. Lecturers, program coordinators, academic managers, and even other HR users can now be created, edited, and deleted by HR.</a:t>
            </a:r>
            <a:br>
              <a:rPr kumimoji="0" lang="en-US" altLang="en-US" sz="1800" b="0" i="0" u="none" strike="noStrike" cap="none" normalizeH="0" baseline="0" dirty="0">
                <a:ln>
                  <a:noFill/>
                </a:ln>
                <a:solidFill>
                  <a:schemeClr val="bg1"/>
                </a:solidFill>
                <a:effectLst/>
                <a:latin typeface="Arial" panose="020B0604020202020204" pitchFamily="34" charset="0"/>
              </a:rPr>
            </a:br>
            <a:br>
              <a:rPr kumimoji="0" lang="en-US" altLang="en-US" sz="1800" b="0" i="0" u="none" strike="noStrike" cap="none" normalizeH="0" baseline="0" dirty="0">
                <a:ln>
                  <a:noFill/>
                </a:ln>
                <a:solidFill>
                  <a:schemeClr val="bg1"/>
                </a:solidFill>
                <a:effectLst/>
                <a:latin typeface="Arial" panose="020B0604020202020204" pitchFamily="34" charset="0"/>
              </a:rPr>
            </a:br>
            <a:r>
              <a:rPr kumimoji="0" lang="en-US" altLang="en-US" sz="1800" b="0" i="0" u="none" strike="noStrike" cap="none" normalizeH="0" baseline="0" dirty="0">
                <a:ln>
                  <a:noFill/>
                </a:ln>
                <a:solidFill>
                  <a:schemeClr val="bg1"/>
                </a:solidFill>
                <a:effectLst/>
                <a:latin typeface="Arial" panose="020B0604020202020204" pitchFamily="34" charset="0"/>
              </a:rPr>
              <a:t>HR may view the overall number of users, lecturers, claims, and recent activity through the HR dashboard, which offers system-wide access. This improvement takes the system closer to an actual institutional setting and grants HR complete administrative authority. Because HR no longer relies on developers to manually manage people, it also enhances workflow.</a:t>
            </a:r>
          </a:p>
        </p:txBody>
      </p:sp>
      <p:pic>
        <p:nvPicPr>
          <p:cNvPr id="8" name="Picture 7">
            <a:extLst>
              <a:ext uri="{FF2B5EF4-FFF2-40B4-BE49-F238E27FC236}">
                <a16:creationId xmlns:a16="http://schemas.microsoft.com/office/drawing/2014/main" id="{6FF8FB2E-31D6-D8DA-11FD-17A399F99D11}"/>
              </a:ext>
            </a:extLst>
          </p:cNvPr>
          <p:cNvPicPr>
            <a:picLocks noChangeAspect="1"/>
          </p:cNvPicPr>
          <p:nvPr/>
        </p:nvPicPr>
        <p:blipFill>
          <a:blip r:embed="rId2"/>
          <a:stretch>
            <a:fillRect/>
          </a:stretch>
        </p:blipFill>
        <p:spPr>
          <a:xfrm>
            <a:off x="6458123" y="1156143"/>
            <a:ext cx="5065412" cy="2741719"/>
          </a:xfrm>
          <a:prstGeom prst="rect">
            <a:avLst/>
          </a:prstGeom>
        </p:spPr>
      </p:pic>
      <p:pic>
        <p:nvPicPr>
          <p:cNvPr id="11" name="Picture 10">
            <a:extLst>
              <a:ext uri="{FF2B5EF4-FFF2-40B4-BE49-F238E27FC236}">
                <a16:creationId xmlns:a16="http://schemas.microsoft.com/office/drawing/2014/main" id="{F350A58B-10F2-F044-D95D-CBCCA04B97C8}"/>
              </a:ext>
            </a:extLst>
          </p:cNvPr>
          <p:cNvPicPr>
            <a:picLocks noChangeAspect="1"/>
          </p:cNvPicPr>
          <p:nvPr/>
        </p:nvPicPr>
        <p:blipFill>
          <a:blip r:embed="rId3"/>
          <a:stretch>
            <a:fillRect/>
          </a:stretch>
        </p:blipFill>
        <p:spPr>
          <a:xfrm>
            <a:off x="6400802" y="3944731"/>
            <a:ext cx="5467493" cy="2741720"/>
          </a:xfrm>
          <a:prstGeom prst="rect">
            <a:avLst/>
          </a:prstGeom>
        </p:spPr>
      </p:pic>
    </p:spTree>
    <p:extLst>
      <p:ext uri="{BB962C8B-B14F-4D97-AF65-F5344CB8AC3E}">
        <p14:creationId xmlns:p14="http://schemas.microsoft.com/office/powerpoint/2010/main" val="3477378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9DF47-4FEA-1DE2-3FD0-F6058207B325}"/>
              </a:ext>
            </a:extLst>
          </p:cNvPr>
          <p:cNvSpPr>
            <a:spLocks noGrp="1"/>
          </p:cNvSpPr>
          <p:nvPr>
            <p:ph type="ctrTitle"/>
          </p:nvPr>
        </p:nvSpPr>
        <p:spPr>
          <a:xfrm>
            <a:off x="2794000" y="-592328"/>
            <a:ext cx="10058400" cy="3566160"/>
          </a:xfrm>
        </p:spPr>
        <p:txBody>
          <a:bodyPr/>
          <a:lstStyle/>
          <a:p>
            <a:r>
              <a:rPr lang="en-ZA" dirty="0"/>
              <a:t>Thank You</a:t>
            </a:r>
          </a:p>
        </p:txBody>
      </p:sp>
      <p:sp>
        <p:nvSpPr>
          <p:cNvPr id="3" name="Subtitle 2">
            <a:extLst>
              <a:ext uri="{FF2B5EF4-FFF2-40B4-BE49-F238E27FC236}">
                <a16:creationId xmlns:a16="http://schemas.microsoft.com/office/drawing/2014/main" id="{2948A1D1-51C6-5F89-66C3-7D847BABAD04}"/>
              </a:ext>
            </a:extLst>
          </p:cNvPr>
          <p:cNvSpPr>
            <a:spLocks noGrp="1"/>
          </p:cNvSpPr>
          <p:nvPr>
            <p:ph type="subTitle" idx="1"/>
          </p:nvPr>
        </p:nvSpPr>
        <p:spPr/>
        <p:txBody>
          <a:bodyPr/>
          <a:lstStyle/>
          <a:p>
            <a:endParaRPr lang="en-ZA"/>
          </a:p>
        </p:txBody>
      </p:sp>
    </p:spTree>
    <p:extLst>
      <p:ext uri="{BB962C8B-B14F-4D97-AF65-F5344CB8AC3E}">
        <p14:creationId xmlns:p14="http://schemas.microsoft.com/office/powerpoint/2010/main" val="2010348048"/>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{A1C991CC-FD60-41D2-8B27-0B22ECA7493F}tf56160789_win32</Template>
  <TotalTime>250</TotalTime>
  <Words>740</Words>
  <Application>Microsoft Office PowerPoint</Application>
  <PresentationFormat>Widescreen</PresentationFormat>
  <Paragraphs>34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Bookman Old Style</vt:lpstr>
      <vt:lpstr>Calibri</vt:lpstr>
      <vt:lpstr>Franklin Gothic Book</vt:lpstr>
      <vt:lpstr>Custom</vt:lpstr>
      <vt:lpstr>CMCS Contract Monthly Claim System</vt:lpstr>
      <vt:lpstr>Updates from Feedback from POE Part 2 to Part 3</vt:lpstr>
      <vt:lpstr>Updates from Feedback from POE Part 2 to Part 3  (Unit testing)</vt:lpstr>
      <vt:lpstr>Updates from Feedback from POE Part 2 to Part 3  (Error Handling)</vt:lpstr>
      <vt:lpstr>Updates from Feedback from POE Part 2 to Part 3  (Claim Tracking Improvements)</vt:lpstr>
      <vt:lpstr>Design and new Features of Part 3 in the web app  SQL Integration:</vt:lpstr>
      <vt:lpstr>Design and new Features of Part 3 in the Web app  Invoice Generation:</vt:lpstr>
      <vt:lpstr>Design and new Features of Part 3 in the Web app  Automated Hourly Rate/Total Calculations:</vt:lpstr>
      <vt:lpstr>Design and new Features of Part 3 in the Web app  HR Super User: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Caleb Forbes</dc:creator>
  <cp:lastModifiedBy>Caleb Forbes</cp:lastModifiedBy>
  <cp:revision>1</cp:revision>
  <dcterms:created xsi:type="dcterms:W3CDTF">2025-11-21T13:13:21Z</dcterms:created>
  <dcterms:modified xsi:type="dcterms:W3CDTF">2025-11-21T17:23:36Z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